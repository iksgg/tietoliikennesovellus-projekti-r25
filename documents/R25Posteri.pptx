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3"/>
  </p:notesMasterIdLst>
  <p:sldIdLst>
    <p:sldId id="256" r:id="rId2"/>
  </p:sldIdLst>
  <p:sldSz cx="9601200" cy="12801600" type="A3"/>
  <p:notesSz cx="6858000" cy="9144000"/>
  <p:embeddedFontLst>
    <p:embeddedFont>
      <p:font typeface="Arial Narrow" panose="020B06060202020A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08D840-C4B9-CE60-01BF-8701FAD79C6E}" name="Kari Jyrkkä" initials="KJ" userId="S::kajyrkka@oamk.fi::0182d398-07c2-4430-a729-36d10ccea24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B7CD"/>
    <a:srgbClr val="6582B1"/>
    <a:srgbClr val="A7CACD"/>
    <a:srgbClr val="6AA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0FCC40-C63B-49EC-BBD8-45EBFFC1AB5D}" v="205" dt="2025-12-09T21:43:52.384"/>
    <p1510:client id="{4574F87B-0393-1909-043B-3E43D7FC4293}" v="50" dt="2025-12-09T10:25:15.560"/>
    <p1510:client id="{7C4B9DDB-204D-6AD2-3850-DE8EB21BF1D4}" v="2707" dt="2025-12-10T10:44:59.9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tteri Hietamäki" userId="1606354a-720d-4bf8-b144-62a13d706c3b" providerId="ADAL" clId="{D781BE29-ED53-4047-BF7F-7BE8057946DB}"/>
    <pc:docChg chg="undo custSel modSld">
      <pc:chgData name="Valtteri Hietamäki" userId="1606354a-720d-4bf8-b144-62a13d706c3b" providerId="ADAL" clId="{D781BE29-ED53-4047-BF7F-7BE8057946DB}" dt="2025-12-10T10:11:05.698" v="368" actId="20577"/>
      <pc:docMkLst>
        <pc:docMk/>
      </pc:docMkLst>
      <pc:sldChg chg="modSp mod">
        <pc:chgData name="Valtteri Hietamäki" userId="1606354a-720d-4bf8-b144-62a13d706c3b" providerId="ADAL" clId="{D781BE29-ED53-4047-BF7F-7BE8057946DB}" dt="2025-12-10T10:11:05.698" v="368" actId="20577"/>
        <pc:sldMkLst>
          <pc:docMk/>
          <pc:sldMk cId="0" sldId="256"/>
        </pc:sldMkLst>
        <pc:spChg chg="mod">
          <ac:chgData name="Valtteri Hietamäki" userId="1606354a-720d-4bf8-b144-62a13d706c3b" providerId="ADAL" clId="{D781BE29-ED53-4047-BF7F-7BE8057946DB}" dt="2025-12-10T10:11:05.698" v="368" actId="20577"/>
          <ac:spMkLst>
            <pc:docMk/>
            <pc:sldMk cId="0" sldId="256"/>
            <ac:spMk id="33" creationId="{00000000-0000-0000-0000-000000000000}"/>
          </ac:spMkLst>
        </pc:spChg>
        <pc:spChg chg="mod">
          <ac:chgData name="Valtteri Hietamäki" userId="1606354a-720d-4bf8-b144-62a13d706c3b" providerId="ADAL" clId="{D781BE29-ED53-4047-BF7F-7BE8057946DB}" dt="2025-12-09T22:07:37.328" v="364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Valtteri Hietamäki" userId="1606354a-720d-4bf8-b144-62a13d706c3b" providerId="ADAL" clId="{D781BE29-ED53-4047-BF7F-7BE8057946DB}" dt="2025-12-09T22:03:49.235" v="286" actId="20577"/>
          <ac:spMkLst>
            <pc:docMk/>
            <pc:sldMk cId="0" sldId="256"/>
            <ac:spMk id="35" creationId="{00000000-0000-0000-0000-000000000000}"/>
          </ac:spMkLst>
        </pc:spChg>
        <pc:picChg chg="mod">
          <ac:chgData name="Valtteri Hietamäki" userId="1606354a-720d-4bf8-b144-62a13d706c3b" providerId="ADAL" clId="{D781BE29-ED53-4047-BF7F-7BE8057946DB}" dt="2025-12-09T21:41:04.462" v="116" actId="14100"/>
          <ac:picMkLst>
            <pc:docMk/>
            <pc:sldMk cId="0" sldId="256"/>
            <ac:picMk id="5" creationId="{817CE7C2-BE84-8272-859A-47884882F191}"/>
          </ac:picMkLst>
        </pc:picChg>
      </pc:sldChg>
    </pc:docChg>
  </pc:docChgLst>
  <pc:docChgLst>
    <pc:chgData name="Sami Ikäläinen" userId="S::sikalain24@students.oamk.fi::db28fa18-867a-461b-b946-94c383a880f5" providerId="AD" clId="Web-{7C4B9DDB-204D-6AD2-3850-DE8EB21BF1D4}"/>
    <pc:docChg chg="modSld">
      <pc:chgData name="Sami Ikäläinen" userId="S::sikalain24@students.oamk.fi::db28fa18-867a-461b-b946-94c383a880f5" providerId="AD" clId="Web-{7C4B9DDB-204D-6AD2-3850-DE8EB21BF1D4}" dt="2025-12-10T10:44:59.992" v="2699" actId="14100"/>
      <pc:docMkLst>
        <pc:docMk/>
      </pc:docMkLst>
      <pc:sldChg chg="addSp delSp modSp">
        <pc:chgData name="Sami Ikäläinen" userId="S::sikalain24@students.oamk.fi::db28fa18-867a-461b-b946-94c383a880f5" providerId="AD" clId="Web-{7C4B9DDB-204D-6AD2-3850-DE8EB21BF1D4}" dt="2025-12-10T10:44:59.992" v="2699" actId="14100"/>
        <pc:sldMkLst>
          <pc:docMk/>
          <pc:sldMk cId="0" sldId="256"/>
        </pc:sldMkLst>
        <pc:spChg chg="mod">
          <ac:chgData name="Sami Ikäläinen" userId="S::sikalain24@students.oamk.fi::db28fa18-867a-461b-b946-94c383a880f5" providerId="AD" clId="Web-{7C4B9DDB-204D-6AD2-3850-DE8EB21BF1D4}" dt="2025-12-09T12:08:18.718" v="1956" actId="20577"/>
          <ac:spMkLst>
            <pc:docMk/>
            <pc:sldMk cId="0" sldId="256"/>
            <ac:spMk id="33" creationId="{00000000-0000-0000-0000-000000000000}"/>
          </ac:spMkLst>
        </pc:spChg>
        <pc:spChg chg="mod">
          <ac:chgData name="Sami Ikäläinen" userId="S::sikalain24@students.oamk.fi::db28fa18-867a-461b-b946-94c383a880f5" providerId="AD" clId="Web-{7C4B9DDB-204D-6AD2-3850-DE8EB21BF1D4}" dt="2025-12-09T12:16:43.605" v="2597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Sami Ikäläinen" userId="S::sikalain24@students.oamk.fi::db28fa18-867a-461b-b946-94c383a880f5" providerId="AD" clId="Web-{7C4B9DDB-204D-6AD2-3850-DE8EB21BF1D4}" dt="2025-12-10T10:23:43.001" v="2695" actId="20577"/>
          <ac:spMkLst>
            <pc:docMk/>
            <pc:sldMk cId="0" sldId="256"/>
            <ac:spMk id="35" creationId="{00000000-0000-0000-0000-000000000000}"/>
          </ac:spMkLst>
        </pc:spChg>
        <pc:picChg chg="del mod">
          <ac:chgData name="Sami Ikäläinen" userId="S::sikalain24@students.oamk.fi::db28fa18-867a-461b-b946-94c383a880f5" providerId="AD" clId="Web-{7C4B9DDB-204D-6AD2-3850-DE8EB21BF1D4}" dt="2025-12-09T12:12:48.638" v="2388"/>
          <ac:picMkLst>
            <pc:docMk/>
            <pc:sldMk cId="0" sldId="256"/>
            <ac:picMk id="2" creationId="{00000000-0000-0000-0000-000000000000}"/>
          </ac:picMkLst>
        </pc:picChg>
        <pc:picChg chg="del">
          <ac:chgData name="Sami Ikäläinen" userId="S::sikalain24@students.oamk.fi::db28fa18-867a-461b-b946-94c383a880f5" providerId="AD" clId="Web-{7C4B9DDB-204D-6AD2-3850-DE8EB21BF1D4}" dt="2025-12-09T11:51:27.091" v="1795"/>
          <ac:picMkLst>
            <pc:docMk/>
            <pc:sldMk cId="0" sldId="256"/>
            <ac:picMk id="3" creationId="{00000000-0000-0000-0000-000000000000}"/>
          </ac:picMkLst>
        </pc:picChg>
        <pc:picChg chg="del">
          <ac:chgData name="Sami Ikäläinen" userId="S::sikalain24@students.oamk.fi::db28fa18-867a-461b-b946-94c383a880f5" providerId="AD" clId="Web-{7C4B9DDB-204D-6AD2-3850-DE8EB21BF1D4}" dt="2025-12-09T10:34:07.984" v="340"/>
          <ac:picMkLst>
            <pc:docMk/>
            <pc:sldMk cId="0" sldId="256"/>
            <ac:picMk id="4" creationId="{00000000-0000-0000-0000-000000000000}"/>
          </ac:picMkLst>
        </pc:picChg>
        <pc:picChg chg="add mod">
          <ac:chgData name="Sami Ikäläinen" userId="S::sikalain24@students.oamk.fi::db28fa18-867a-461b-b946-94c383a880f5" providerId="AD" clId="Web-{7C4B9DDB-204D-6AD2-3850-DE8EB21BF1D4}" dt="2025-12-10T10:44:59.992" v="2699" actId="14100"/>
          <ac:picMkLst>
            <pc:docMk/>
            <pc:sldMk cId="0" sldId="256"/>
            <ac:picMk id="5" creationId="{817CE7C2-BE84-8272-859A-47884882F191}"/>
          </ac:picMkLst>
        </pc:picChg>
        <pc:picChg chg="add del mod">
          <ac:chgData name="Sami Ikäläinen" userId="S::sikalain24@students.oamk.fi::db28fa18-867a-461b-b946-94c383a880f5" providerId="AD" clId="Web-{7C4B9DDB-204D-6AD2-3850-DE8EB21BF1D4}" dt="2025-12-09T11:39:16.200" v="1214"/>
          <ac:picMkLst>
            <pc:docMk/>
            <pc:sldMk cId="0" sldId="256"/>
            <ac:picMk id="6" creationId="{A5B8BE1B-042D-A11C-63F4-4E8FB0E7FC8E}"/>
          </ac:picMkLst>
        </pc:picChg>
        <pc:picChg chg="add mod">
          <ac:chgData name="Sami Ikäläinen" userId="S::sikalain24@students.oamk.fi::db28fa18-867a-461b-b946-94c383a880f5" providerId="AD" clId="Web-{7C4B9DDB-204D-6AD2-3850-DE8EB21BF1D4}" dt="2025-12-09T11:52:07.825" v="1841" actId="1076"/>
          <ac:picMkLst>
            <pc:docMk/>
            <pc:sldMk cId="0" sldId="256"/>
            <ac:picMk id="7" creationId="{C5D4C18A-2C9A-433B-69E2-E546CAD70231}"/>
          </ac:picMkLst>
        </pc:picChg>
        <pc:picChg chg="add mod">
          <ac:chgData name="Sami Ikäläinen" userId="S::sikalain24@students.oamk.fi::db28fa18-867a-461b-b946-94c383a880f5" providerId="AD" clId="Web-{7C4B9DDB-204D-6AD2-3850-DE8EB21BF1D4}" dt="2025-12-10T10:24:04.392" v="2697" actId="1076"/>
          <ac:picMkLst>
            <pc:docMk/>
            <pc:sldMk cId="0" sldId="256"/>
            <ac:picMk id="8" creationId="{FD1CB174-0709-8F34-270E-2894786B9DD6}"/>
          </ac:picMkLst>
        </pc:picChg>
      </pc:sldChg>
    </pc:docChg>
  </pc:docChgLst>
  <pc:docChgLst>
    <pc:chgData name="Valtteri Hietamäki" userId="S::t3hiva00@students.oamk.fi::1606354a-720d-4bf8-b144-62a13d706c3b" providerId="AD" clId="Web-{4574F87B-0393-1909-043B-3E43D7FC4293}"/>
    <pc:docChg chg="modSld">
      <pc:chgData name="Valtteri Hietamäki" userId="S::t3hiva00@students.oamk.fi::1606354a-720d-4bf8-b144-62a13d706c3b" providerId="AD" clId="Web-{4574F87B-0393-1909-043B-3E43D7FC4293}" dt="2025-12-09T10:25:15.560" v="49" actId="20577"/>
      <pc:docMkLst>
        <pc:docMk/>
      </pc:docMkLst>
      <pc:sldChg chg="modSp">
        <pc:chgData name="Valtteri Hietamäki" userId="S::t3hiva00@students.oamk.fi::1606354a-720d-4bf8-b144-62a13d706c3b" providerId="AD" clId="Web-{4574F87B-0393-1909-043B-3E43D7FC4293}" dt="2025-12-09T10:25:15.560" v="49" actId="20577"/>
        <pc:sldMkLst>
          <pc:docMk/>
          <pc:sldMk cId="0" sldId="256"/>
        </pc:sldMkLst>
        <pc:spChg chg="mod">
          <ac:chgData name="Valtteri Hietamäki" userId="S::t3hiva00@students.oamk.fi::1606354a-720d-4bf8-b144-62a13d706c3b" providerId="AD" clId="Web-{4574F87B-0393-1909-043B-3E43D7FC4293}" dt="2025-12-09T10:25:15.560" v="49" actId="20577"/>
          <ac:spMkLst>
            <pc:docMk/>
            <pc:sldMk cId="0" sldId="256"/>
            <ac:spMk id="21" creationId="{7D212599-4D1E-487D-BEF3-D88E6AB7AD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2143125" y="685800"/>
            <a:ext cx="257174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fi-FI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fi-FI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" name="Shape 25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hree content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502152" y="2735385"/>
            <a:ext cx="2813821" cy="854898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3445642" y="2735385"/>
            <a:ext cx="2813821" cy="854898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body" idx="3"/>
          </p:nvPr>
        </p:nvSpPr>
        <p:spPr>
          <a:xfrm>
            <a:off x="6389132" y="2735385"/>
            <a:ext cx="2813821" cy="854898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502152" y="2757268"/>
            <a:ext cx="8700800" cy="85271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300"/>
              </a:spcBef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ntent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502152" y="2765250"/>
            <a:ext cx="4307340" cy="85191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2"/>
          </p:nvPr>
        </p:nvSpPr>
        <p:spPr>
          <a:xfrm>
            <a:off x="4898392" y="2765250"/>
            <a:ext cx="4304562" cy="85191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502152" y="909737"/>
            <a:ext cx="8700800" cy="7971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dk2"/>
              </a:buClr>
              <a:buFont typeface="Arial Narrow"/>
              <a:buNone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xfrm>
            <a:off x="502152" y="1720777"/>
            <a:ext cx="8700800" cy="6450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300" b="0" i="0" u="none" strike="noStrike" cap="none">
                <a:solidFill>
                  <a:srgbClr val="7F7F7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12" name="Shape 12"/>
          <p:cNvCxnSpPr/>
          <p:nvPr/>
        </p:nvCxnSpPr>
        <p:spPr>
          <a:xfrm>
            <a:off x="502152" y="2479383"/>
            <a:ext cx="8700800" cy="0"/>
          </a:xfrm>
          <a:prstGeom prst="straightConnector1">
            <a:avLst/>
          </a:prstGeom>
          <a:noFill/>
          <a:ln w="9525" cap="flat" cmpd="sng">
            <a:solidFill>
              <a:srgbClr val="FC740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Shape 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3828" y="308876"/>
            <a:ext cx="2886456" cy="3627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/>
        </p:nvSpPr>
        <p:spPr>
          <a:xfrm>
            <a:off x="487427" y="11666664"/>
            <a:ext cx="8700800" cy="284477"/>
          </a:xfrm>
          <a:prstGeom prst="rect">
            <a:avLst/>
          </a:prstGeom>
          <a:noFill/>
          <a:ln>
            <a:noFill/>
          </a:ln>
        </p:spPr>
        <p:txBody>
          <a:bodyPr lIns="122175" tIns="0" rIns="12217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fi-FI" sz="1200" b="0" i="0" u="none" strike="noStrike" cap="none">
              <a:solidFill>
                <a:srgbClr val="7F7F7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383464" y="11951141"/>
            <a:ext cx="8700800" cy="607134"/>
          </a:xfrm>
          <a:prstGeom prst="rect">
            <a:avLst/>
          </a:prstGeom>
          <a:noFill/>
          <a:ln>
            <a:noFill/>
          </a:ln>
        </p:spPr>
        <p:txBody>
          <a:bodyPr lIns="122175" tIns="0" rIns="122175" bIns="0" anchor="t" anchorCtr="0">
            <a:noAutofit/>
          </a:bodyPr>
          <a:lstStyle/>
          <a:p>
            <a:pPr>
              <a:buSzPct val="25000"/>
            </a:pPr>
            <a:endParaRPr lang="fi-FI" sz="1200">
              <a:solidFill>
                <a:srgbClr val="7F7F7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482638" y="2832958"/>
            <a:ext cx="2813821" cy="8911759"/>
          </a:xfrm>
          <a:prstGeom prst="rect">
            <a:avLst/>
          </a:prstGeom>
          <a:noFill/>
          <a:ln>
            <a:noFill/>
          </a:ln>
        </p:spPr>
        <p:txBody>
          <a:bodyPr lIns="122175" tIns="61075" rIns="122175" bIns="61075" anchor="t" anchorCtr="0">
            <a:noAutofit/>
          </a:bodyPr>
          <a:lstStyle/>
          <a:p>
            <a:pPr>
              <a:spcAft>
                <a:spcPts val="300"/>
              </a:spcAft>
              <a:buSzPct val="25000"/>
            </a:pPr>
            <a:r>
              <a:rPr lang="fi-FI" b="1"/>
              <a:t>Tarkoitus ja tavoitteet</a:t>
            </a:r>
            <a:endParaRPr lang="fi-FI" sz="1500" b="1" i="0" u="none" strike="noStrike" cap="none">
              <a:latin typeface="Arial Narrow"/>
              <a:ea typeface="Arial Narrow"/>
              <a:cs typeface="Arial Narrow"/>
            </a:endParaRPr>
          </a:p>
          <a:p>
            <a:pPr>
              <a:spcAft>
                <a:spcPts val="300"/>
              </a:spcAft>
              <a:buSzPct val="25000"/>
            </a:pPr>
            <a:r>
              <a:rPr lang="fi-FI"/>
              <a:t>Projekti oli </a:t>
            </a:r>
            <a:r>
              <a:rPr lang="fi-FI" dirty="0"/>
              <a:t>kolmeosainen</a:t>
            </a:r>
            <a:r>
              <a:rPr lang="fi-FI"/>
              <a:t>. </a:t>
            </a:r>
            <a:r>
              <a:rPr lang="fi-FI" dirty="0"/>
              <a:t>Ensimmäisenä luodaan </a:t>
            </a:r>
            <a:r>
              <a:rPr lang="fi-FI"/>
              <a:t>ohjelma</a:t>
            </a:r>
            <a:r>
              <a:rPr lang="fi-FI" dirty="0"/>
              <a:t>,</a:t>
            </a:r>
            <a:r>
              <a:rPr lang="fi-FI"/>
              <a:t> joka mittaa ja lähettää dataa </a:t>
            </a:r>
            <a:r>
              <a:rPr lang="fi-FI" dirty="0"/>
              <a:t>BLE-yhteyden </a:t>
            </a:r>
            <a:r>
              <a:rPr lang="fi-FI"/>
              <a:t>yli. </a:t>
            </a:r>
            <a:r>
              <a:rPr lang="fi-FI" dirty="0"/>
              <a:t>Toiseksi </a:t>
            </a:r>
            <a:r>
              <a:rPr lang="fi-FI"/>
              <a:t>otetaan data </a:t>
            </a:r>
            <a:r>
              <a:rPr lang="fi-FI" dirty="0"/>
              <a:t>vastaan </a:t>
            </a:r>
            <a:r>
              <a:rPr lang="fi-FI" dirty="0" err="1"/>
              <a:t>Rasperry</a:t>
            </a:r>
            <a:r>
              <a:rPr lang="fi-FI" dirty="0"/>
              <a:t> </a:t>
            </a:r>
            <a:r>
              <a:rPr lang="fi-FI" dirty="0" err="1"/>
              <a:t>Pillä</a:t>
            </a:r>
            <a:r>
              <a:rPr lang="fi-FI" dirty="0"/>
              <a:t> </a:t>
            </a:r>
            <a:r>
              <a:rPr lang="fi-FI"/>
              <a:t>ja </a:t>
            </a:r>
            <a:r>
              <a:rPr lang="fi-FI" dirty="0"/>
              <a:t>siirretään </a:t>
            </a:r>
            <a:r>
              <a:rPr lang="fi-FI"/>
              <a:t>sen kautta palvelimella olevaan tietokantaan. </a:t>
            </a:r>
            <a:r>
              <a:rPr lang="fi-FI" dirty="0"/>
              <a:t>Kolmanneksi hyödynnetään </a:t>
            </a:r>
            <a:r>
              <a:rPr lang="fi-FI"/>
              <a:t>kerättyä dataa koneoppimisessa </a:t>
            </a:r>
            <a:r>
              <a:rPr lang="fi-FI" dirty="0"/>
              <a:t>K-</a:t>
            </a:r>
            <a:r>
              <a:rPr lang="fi-FI" dirty="0" err="1"/>
              <a:t>means</a:t>
            </a:r>
            <a:r>
              <a:rPr lang="fi-FI" dirty="0"/>
              <a:t>-algoritmin  </a:t>
            </a:r>
            <a:r>
              <a:rPr lang="fi-FI"/>
              <a:t>koulutuksessa. Tarkoituksena on oppia ja nähdä käytännössä miten datan siirto toimii eri yhteyksillä, oppia mikä </a:t>
            </a:r>
            <a:r>
              <a:rPr lang="fi-FI" dirty="0"/>
              <a:t>K-</a:t>
            </a:r>
            <a:r>
              <a:rPr lang="fi-FI" dirty="0" err="1"/>
              <a:t>means</a:t>
            </a:r>
            <a:r>
              <a:rPr lang="fi-FI" dirty="0"/>
              <a:t> </a:t>
            </a:r>
            <a:r>
              <a:rPr lang="fi-FI"/>
              <a:t>on ja </a:t>
            </a:r>
            <a:r>
              <a:rPr lang="fi-FI" dirty="0"/>
              <a:t>miten se </a:t>
            </a:r>
            <a:r>
              <a:rPr lang="fi-FI"/>
              <a:t>toimii, miten voidaan luoda tarvittavat ohjelmat sekä oppia ja ymmärtää Linuxin perus asioita ja käytäntöjä. </a:t>
            </a:r>
            <a:br>
              <a:rPr lang="fi-FI"/>
            </a:br>
            <a:endParaRPr lang="fi-FI" sz="1500" b="0" i="0" u="none" strike="noStrike" cap="none">
              <a:latin typeface="Arial Narrow"/>
              <a:ea typeface="Arial Narrow"/>
              <a:cs typeface="Arial Narrow"/>
            </a:endParaRPr>
          </a:p>
          <a:p>
            <a:pPr>
              <a:spcAft>
                <a:spcPts val="300"/>
              </a:spcAft>
              <a:buSzPct val="25000"/>
            </a:pPr>
            <a:r>
              <a:rPr lang="fi-FI" b="1"/>
              <a:t>Nordic nRF5340 ja GY-61</a:t>
            </a:r>
          </a:p>
          <a:p>
            <a:pPr>
              <a:spcAft>
                <a:spcPts val="300"/>
              </a:spcAft>
              <a:buSzPct val="25000"/>
            </a:pPr>
            <a:r>
              <a:rPr lang="fi-FI"/>
              <a:t>Projekti on rakennettu Nordicin </a:t>
            </a:r>
            <a:r>
              <a:rPr lang="fi-FI" dirty="0"/>
              <a:t>nRF5340-alustan </a:t>
            </a:r>
            <a:r>
              <a:rPr lang="fi-FI"/>
              <a:t>päälle. </a:t>
            </a:r>
            <a:r>
              <a:rPr lang="fi-FI" dirty="0"/>
              <a:t>nRF5340 </a:t>
            </a:r>
            <a:r>
              <a:rPr lang="fi-FI"/>
              <a:t>tarjoaa hyvän toiminnallisuuden </a:t>
            </a:r>
            <a:r>
              <a:rPr lang="fi-FI" dirty="0"/>
              <a:t>BLE-tiedon </a:t>
            </a:r>
            <a:r>
              <a:rPr lang="fi-FI"/>
              <a:t>siirrolle ja laajan </a:t>
            </a:r>
            <a:r>
              <a:rPr lang="fi-FI" dirty="0"/>
              <a:t>SDK-pohjan </a:t>
            </a:r>
            <a:r>
              <a:rPr lang="fi-FI"/>
              <a:t>jota on hyödynnetty ohjelmoinnissa. Toinen </a:t>
            </a:r>
            <a:r>
              <a:rPr lang="fi-FI" dirty="0"/>
              <a:t>pääkomponentti </a:t>
            </a:r>
            <a:r>
              <a:rPr lang="fi-FI"/>
              <a:t>laitteessa on GY-61 3 – akselinen kiihtyvyysanturi jolla mitataan laitteen asento. (Kuva 1.)</a:t>
            </a:r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 i="1"/>
          </a:p>
          <a:p>
            <a:pPr>
              <a:spcAft>
                <a:spcPts val="300"/>
              </a:spcAft>
            </a:pPr>
            <a:r>
              <a:rPr lang="fi-FI" i="1"/>
              <a:t>Kuva 1. nRF5340dK ja GY-61 kytkentä mittausta varten</a:t>
            </a:r>
          </a:p>
        </p:txBody>
      </p:sp>
      <p:sp>
        <p:nvSpPr>
          <p:cNvPr id="34" name="Shape 34"/>
          <p:cNvSpPr txBox="1">
            <a:spLocks noGrp="1"/>
          </p:cNvSpPr>
          <p:nvPr>
            <p:ph type="body" idx="2"/>
          </p:nvPr>
        </p:nvSpPr>
        <p:spPr>
          <a:xfrm>
            <a:off x="3445642" y="2735385"/>
            <a:ext cx="2813821" cy="8931274"/>
          </a:xfrm>
          <a:prstGeom prst="rect">
            <a:avLst/>
          </a:prstGeom>
          <a:noFill/>
          <a:ln>
            <a:noFill/>
          </a:ln>
        </p:spPr>
        <p:txBody>
          <a:bodyPr lIns="122175" tIns="61075" rIns="122175" bIns="61075" anchor="t" anchorCtr="0">
            <a:noAutofit/>
          </a:bodyPr>
          <a:lstStyle/>
          <a:p>
            <a:pPr>
              <a:spcAft>
                <a:spcPts val="300"/>
              </a:spcAft>
              <a:buSzPct val="25000"/>
            </a:pPr>
            <a:r>
              <a:rPr lang="fi-FI" b="1"/>
              <a:t>Toteutus</a:t>
            </a:r>
            <a:endParaRPr lang="fi-FI" sz="1500" b="1" i="0" u="none" strike="noStrike" cap="none">
              <a:latin typeface="Arial Narrow"/>
              <a:ea typeface="Arial Narrow"/>
              <a:cs typeface="Arial Narrow"/>
            </a:endParaRPr>
          </a:p>
          <a:p>
            <a:pPr>
              <a:spcAft>
                <a:spcPts val="300"/>
              </a:spcAft>
              <a:buSzPct val="25000"/>
            </a:pPr>
            <a:r>
              <a:rPr lang="fi-FI"/>
              <a:t>Projektin toteutus edellytti kolmen eri ohjelman luontia</a:t>
            </a:r>
            <a:r>
              <a:rPr lang="fi-FI" dirty="0"/>
              <a:t>. Näissä </a:t>
            </a:r>
            <a:r>
              <a:rPr lang="fi-FI"/>
              <a:t>ohjelmissa käytettiin </a:t>
            </a:r>
            <a:r>
              <a:rPr lang="fi-FI" dirty="0"/>
              <a:t>C- </a:t>
            </a:r>
            <a:r>
              <a:rPr lang="fi-FI"/>
              <a:t>ja </a:t>
            </a:r>
            <a:r>
              <a:rPr lang="fi-FI" dirty="0"/>
              <a:t>python-ohjelmointikieliä</a:t>
            </a:r>
            <a:r>
              <a:rPr lang="fi-FI"/>
              <a:t>. Ensimmäisessä vaiheessa </a:t>
            </a:r>
            <a:r>
              <a:rPr lang="fi-FI" dirty="0"/>
              <a:t>luotiin C-ohjelma Nordicin </a:t>
            </a:r>
            <a:r>
              <a:rPr lang="fi-FI"/>
              <a:t>alustalle</a:t>
            </a:r>
            <a:r>
              <a:rPr lang="fi-FI" dirty="0"/>
              <a:t>,</a:t>
            </a:r>
            <a:r>
              <a:rPr lang="fi-FI"/>
              <a:t> joka mittaa kiihtyvyysanturin </a:t>
            </a:r>
            <a:r>
              <a:rPr lang="fi-FI" dirty="0"/>
              <a:t>lukemat </a:t>
            </a:r>
            <a:r>
              <a:rPr lang="fi-FI"/>
              <a:t>ja lähettää ne </a:t>
            </a:r>
            <a:r>
              <a:rPr lang="fi-FI" dirty="0"/>
              <a:t>BLE-</a:t>
            </a:r>
            <a:r>
              <a:rPr lang="fi-FI" dirty="0" err="1"/>
              <a:t>notifikaationa</a:t>
            </a:r>
            <a:r>
              <a:rPr lang="fi-FI"/>
              <a:t>. Toinen luotu ohjelma on </a:t>
            </a:r>
            <a:r>
              <a:rPr lang="fi-FI" dirty="0"/>
              <a:t>python-</a:t>
            </a:r>
            <a:r>
              <a:rPr lang="fi-FI" dirty="0" err="1"/>
              <a:t>script</a:t>
            </a:r>
            <a:r>
              <a:rPr lang="fi-FI" dirty="0"/>
              <a:t>, </a:t>
            </a:r>
            <a:r>
              <a:rPr lang="fi-FI"/>
              <a:t>joka tilaa </a:t>
            </a:r>
            <a:r>
              <a:rPr lang="fi-FI" dirty="0"/>
              <a:t>BLE-</a:t>
            </a:r>
            <a:r>
              <a:rPr lang="fi-FI" dirty="0" err="1"/>
              <a:t>notifikaatiot</a:t>
            </a:r>
            <a:r>
              <a:rPr lang="fi-FI" dirty="0"/>
              <a:t> </a:t>
            </a:r>
            <a:r>
              <a:rPr lang="fi-FI"/>
              <a:t>ja välittää arkkitehtuurikuvan (kuva 2.) mukaisesti kerätyn datan tietokantaan. </a:t>
            </a:r>
            <a:r>
              <a:rPr lang="fi-FI" dirty="0"/>
              <a:t>Viimeisenä luotiin k-</a:t>
            </a:r>
            <a:r>
              <a:rPr lang="fi-FI" dirty="0" err="1"/>
              <a:t>means</a:t>
            </a:r>
            <a:r>
              <a:rPr lang="fi-FI" dirty="0"/>
              <a:t>-algoritmi </a:t>
            </a:r>
            <a:r>
              <a:rPr lang="fi-FI"/>
              <a:t>pythonilla</a:t>
            </a:r>
            <a:r>
              <a:rPr lang="fi-FI" dirty="0"/>
              <a:t>,</a:t>
            </a:r>
            <a:r>
              <a:rPr lang="fi-FI"/>
              <a:t> jota </a:t>
            </a:r>
            <a:r>
              <a:rPr lang="fi-FI" dirty="0"/>
              <a:t> </a:t>
            </a:r>
            <a:r>
              <a:rPr lang="fi-FI"/>
              <a:t>käytettiin kouluttamiseen ja sen jälkeen C:llä joka ajettiin jälleen </a:t>
            </a:r>
            <a:r>
              <a:rPr lang="fi-FI" dirty="0"/>
              <a:t>Nordicin </a:t>
            </a:r>
            <a:r>
              <a:rPr lang="fi-FI"/>
              <a:t>alustalla varmentamaan </a:t>
            </a:r>
            <a:r>
              <a:rPr lang="fi-FI" dirty="0"/>
              <a:t>opetuksen onnistuneisuus</a:t>
            </a:r>
            <a:r>
              <a:rPr lang="fi-FI"/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>
              <a:spcAft>
                <a:spcPts val="300"/>
              </a:spcAft>
              <a:buSzPct val="25000"/>
            </a:pPr>
            <a:r>
              <a:rPr lang="fi-FI" i="1"/>
              <a:t>Kuva 2</a:t>
            </a:r>
            <a:r>
              <a:rPr lang="fi-FI" sz="1500" b="0" i="1" u="none" strike="noStrike" cap="none">
                <a:latin typeface="Arial Narrow"/>
                <a:ea typeface="Arial Narrow"/>
                <a:cs typeface="Arial Narrow"/>
                <a:sym typeface="Arial Narrow"/>
              </a:rPr>
              <a:t>. </a:t>
            </a:r>
            <a:r>
              <a:rPr lang="fi-FI" i="1" dirty="0"/>
              <a:t>Arkkitehtuurikaavio</a:t>
            </a:r>
            <a:endParaRPr lang="fi-FI" sz="1500" b="0" i="1" u="none" strike="noStrike" cap="none">
              <a:latin typeface="Arial Narrow"/>
              <a:ea typeface="Arial Narrow"/>
              <a:cs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/>
          </a:p>
          <a:p>
            <a:pPr>
              <a:spcAft>
                <a:spcPts val="300"/>
              </a:spcAft>
              <a:buSzPct val="25000"/>
            </a:pPr>
            <a:r>
              <a:rPr lang="fi-FI" b="1"/>
              <a:t>Opetetun mallin toiminnallisuuden varmistaminen</a:t>
            </a:r>
            <a:endParaRPr lang="fi-FI" sz="1500" b="1" i="0" u="none" strike="noStrike" cap="none">
              <a:latin typeface="Arial Narrow"/>
              <a:ea typeface="Arial Narrow"/>
              <a:cs typeface="Arial Narrow"/>
            </a:endParaRPr>
          </a:p>
          <a:p>
            <a:pPr>
              <a:spcAft>
                <a:spcPts val="300"/>
              </a:spcAft>
              <a:buSzPct val="25000"/>
            </a:pPr>
            <a:r>
              <a:rPr lang="fi-FI"/>
              <a:t>Kun kaikki </a:t>
            </a:r>
            <a:r>
              <a:rPr lang="fi-FI" dirty="0"/>
              <a:t>osa-alueet </a:t>
            </a:r>
            <a:r>
              <a:rPr lang="fi-FI"/>
              <a:t>on saatu toimiviksi </a:t>
            </a:r>
            <a:r>
              <a:rPr lang="fi-FI" dirty="0"/>
              <a:t>tulee </a:t>
            </a:r>
            <a:r>
              <a:rPr lang="fi-FI"/>
              <a:t>lopullinen toiminnallisuus ja sen tarkkuus varmentaa. Tässä tapauksessa varmennus saatiin sekavuus matriisin avulla (</a:t>
            </a:r>
            <a:r>
              <a:rPr lang="fi-FI" err="1"/>
              <a:t>ks</a:t>
            </a:r>
            <a:r>
              <a:rPr lang="fi-FI"/>
              <a:t> Kuva 3.). Matriisin tarkoitus on todentaa koulutetun mallin tarkkuus </a:t>
            </a:r>
            <a:r>
              <a:rPr lang="fi-FI" dirty="0"/>
              <a:t>veikkauksen</a:t>
            </a:r>
            <a:r>
              <a:rPr lang="fi-FI"/>
              <a:t> ja mitatun arvon väliltä.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body" idx="3"/>
          </p:nvPr>
        </p:nvSpPr>
        <p:spPr>
          <a:xfrm>
            <a:off x="6389125" y="2735385"/>
            <a:ext cx="2813700" cy="8931274"/>
          </a:xfrm>
          <a:prstGeom prst="rect">
            <a:avLst/>
          </a:prstGeom>
          <a:noFill/>
          <a:ln>
            <a:noFill/>
          </a:ln>
        </p:spPr>
        <p:txBody>
          <a:bodyPr lIns="122175" tIns="61075" rIns="122175" bIns="610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>
              <a:buSzPct val="25000"/>
            </a:pPr>
            <a:r>
              <a:rPr lang="fi-FI" i="1" dirty="0"/>
              <a:t>Kuva 3</a:t>
            </a:r>
            <a:r>
              <a:rPr lang="fi-FI" sz="1500" b="0" i="1" u="none" strike="noStrike" cap="none" dirty="0">
                <a:latin typeface="Arial Narrow"/>
                <a:ea typeface="Arial Narrow"/>
                <a:cs typeface="Arial Narrow"/>
                <a:sym typeface="Arial Narrow"/>
              </a:rPr>
              <a:t>. </a:t>
            </a:r>
            <a:r>
              <a:rPr lang="fi-FI" i="1" dirty="0"/>
              <a:t>Sekavuusmatriisi jossa veikkaus per mittaus.</a:t>
            </a:r>
          </a:p>
          <a:p>
            <a:endParaRPr lang="fi-FI"/>
          </a:p>
          <a:p>
            <a:r>
              <a:rPr lang="fi-FI" b="1" dirty="0"/>
              <a:t>Projektin hyödyntäminen käytännön tarkoituksessa</a:t>
            </a:r>
            <a:endParaRPr lang="fi-FI" dirty="0"/>
          </a:p>
          <a:p>
            <a:pPr>
              <a:spcAft>
                <a:spcPts val="300"/>
              </a:spcAft>
              <a:buSzPct val="25000"/>
            </a:pPr>
            <a:r>
              <a:rPr lang="fi-FI"/>
              <a:t>Osana projektia laadittiin myös </a:t>
            </a:r>
            <a:r>
              <a:rPr lang="fi-FI" dirty="0"/>
              <a:t>liiketoimintasuunnitelma </a:t>
            </a:r>
            <a:r>
              <a:rPr lang="fi-FI"/>
              <a:t>mahdolliselle käytännössä hyödynnettävälle laitteelle. Valitsimme </a:t>
            </a:r>
            <a:r>
              <a:rPr lang="fi-FI" dirty="0"/>
              <a:t>tuotteeksi </a:t>
            </a:r>
            <a:r>
              <a:rPr lang="fi-FI"/>
              <a:t>laitteen</a:t>
            </a:r>
            <a:r>
              <a:rPr lang="fi-FI" dirty="0"/>
              <a:t>,</a:t>
            </a:r>
            <a:r>
              <a:rPr lang="fi-FI"/>
              <a:t> jolla voidaan seurata pyörän liikkumista ja asentoa esimerkiksi valvomaan vuokrapyörien </a:t>
            </a:r>
            <a:r>
              <a:rPr lang="fi-FI" dirty="0"/>
              <a:t>käyttöä</a:t>
            </a:r>
            <a:r>
              <a:rPr lang="fi-FI"/>
              <a:t> näkemällä kun ne poistuvat pyöräparkista ja kun ne palautetaan sinne.</a:t>
            </a:r>
          </a:p>
          <a:p>
            <a:pPr>
              <a:spcAft>
                <a:spcPts val="300"/>
              </a:spcAft>
            </a:pPr>
            <a:endParaRPr lang="fi-FI"/>
          </a:p>
          <a:p>
            <a:pPr lvl="0" rtl="0">
              <a:spcAft>
                <a:spcPts val="30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b="1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71F536-44A0-4244-AEA3-2A3308C35A78}"/>
              </a:ext>
            </a:extLst>
          </p:cNvPr>
          <p:cNvSpPr txBox="1"/>
          <p:nvPr/>
        </p:nvSpPr>
        <p:spPr>
          <a:xfrm>
            <a:off x="0" y="1"/>
            <a:ext cx="9601200" cy="2512363"/>
          </a:xfrm>
          <a:prstGeom prst="rect">
            <a:avLst/>
          </a:prstGeom>
          <a:solidFill>
            <a:srgbClr val="49B7CD"/>
          </a:solidFill>
        </p:spPr>
        <p:txBody>
          <a:bodyPr wrap="square" rtlCol="0">
            <a:spAutoFit/>
          </a:bodyPr>
          <a:lstStyle/>
          <a:p>
            <a:endParaRPr lang="fi-FI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859BFD2F-6FEA-4047-9872-26C84A7E2CCE}"/>
              </a:ext>
            </a:extLst>
          </p:cNvPr>
          <p:cNvSpPr txBox="1"/>
          <p:nvPr/>
        </p:nvSpPr>
        <p:spPr>
          <a:xfrm>
            <a:off x="502152" y="909737"/>
            <a:ext cx="8700800" cy="797139"/>
          </a:xfrm>
          <a:prstGeom prst="rect">
            <a:avLst/>
          </a:prstGeom>
          <a:noFill/>
          <a:ln>
            <a:noFill/>
          </a:ln>
        </p:spPr>
        <p:txBody>
          <a:bodyPr lIns="122175" tIns="61075" rIns="122175" bIns="610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2"/>
              </a:buClr>
              <a:buSzPct val="25000"/>
              <a:buFont typeface="Arial Narrow"/>
              <a:buNone/>
            </a:pPr>
            <a:r>
              <a:rPr lang="fi-FI" sz="2400">
                <a:solidFill>
                  <a:schemeClr val="bg1"/>
                </a:solidFill>
                <a:latin typeface="Arial Narrow"/>
                <a:ea typeface="Arial Narrow"/>
                <a:cs typeface="Arial Narrow"/>
                <a:sym typeface="Arial Narrow"/>
              </a:rPr>
              <a:t>Tietoliikenteensovellusprojekti</a:t>
            </a:r>
          </a:p>
        </p:txBody>
      </p:sp>
      <p:sp>
        <p:nvSpPr>
          <p:cNvPr id="21" name="Shape 32">
            <a:extLst>
              <a:ext uri="{FF2B5EF4-FFF2-40B4-BE49-F238E27FC236}">
                <a16:creationId xmlns:a16="http://schemas.microsoft.com/office/drawing/2014/main" id="{7D212599-4D1E-487D-BEF3-D88E6AB7AD30}"/>
              </a:ext>
            </a:extLst>
          </p:cNvPr>
          <p:cNvSpPr txBox="1"/>
          <p:nvPr/>
        </p:nvSpPr>
        <p:spPr>
          <a:xfrm>
            <a:off x="502152" y="1850779"/>
            <a:ext cx="8700800" cy="661585"/>
          </a:xfrm>
          <a:prstGeom prst="rect">
            <a:avLst/>
          </a:prstGeom>
          <a:noFill/>
          <a:ln>
            <a:noFill/>
          </a:ln>
        </p:spPr>
        <p:txBody>
          <a:bodyPr lIns="122175" tIns="0" rIns="122175" bIns="0" anchor="t" anchorCtr="0">
            <a:noAutofit/>
          </a:bodyPr>
          <a:lstStyle/>
          <a:p>
            <a:pPr>
              <a:buSzPct val="25000"/>
            </a:pPr>
            <a:r>
              <a:rPr lang="fi-FI" sz="1200">
                <a:solidFill>
                  <a:schemeClr val="bg1"/>
                </a:solidFill>
                <a:latin typeface="Arial Narrow"/>
                <a:ea typeface="Arial Narrow"/>
                <a:cs typeface="Arial Narrow"/>
              </a:rPr>
              <a:t>Valtteri Hietamäki, Sami Ikäläinen</a:t>
            </a:r>
            <a:endParaRPr lang="fi-FI" sz="1200">
              <a:solidFill>
                <a:schemeClr val="bg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>
              <a:buSzPct val="25000"/>
            </a:pPr>
            <a:r>
              <a:rPr lang="fi-FI" sz="1200">
                <a:solidFill>
                  <a:schemeClr val="bg1"/>
                </a:solidFill>
                <a:latin typeface="Arial Narrow"/>
                <a:ea typeface="Arial Narrow"/>
                <a:cs typeface="Arial Narrow"/>
                <a:sym typeface="Arial Narrow"/>
              </a:rPr>
              <a:t>Tietotekniikan tutkinto-ohjelma, laite- ja tuotesuunnittelu</a:t>
            </a:r>
            <a:endParaRPr lang="fi-FI" sz="1200">
              <a:solidFill>
                <a:schemeClr val="bg1"/>
              </a:solidFill>
              <a:latin typeface="Arial Narrow"/>
              <a:ea typeface="Arial Narrow"/>
              <a:cs typeface="Arial Narrow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A0F3090-C75C-4395-BF3C-A952D427D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708" y="142675"/>
            <a:ext cx="3176416" cy="767060"/>
          </a:xfrm>
          <a:prstGeom prst="rect">
            <a:avLst/>
          </a:prstGeom>
        </p:spPr>
      </p:pic>
      <p:pic>
        <p:nvPicPr>
          <p:cNvPr id="5" name="Picture 4" descr="A circuit board with wires and wires&#10;&#10;AI-generated content may be incorrect.">
            <a:extLst>
              <a:ext uri="{FF2B5EF4-FFF2-40B4-BE49-F238E27FC236}">
                <a16:creationId xmlns:a16="http://schemas.microsoft.com/office/drawing/2014/main" id="{817CE7C2-BE84-8272-859A-47884882F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47217" y="9745892"/>
            <a:ext cx="1896256" cy="2849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D4C18A-2C9A-433B-69E2-E546CAD70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39" y="2952867"/>
            <a:ext cx="2333625" cy="1704975"/>
          </a:xfrm>
          <a:prstGeom prst="rect">
            <a:avLst/>
          </a:prstGeom>
        </p:spPr>
      </p:pic>
      <p:pic>
        <p:nvPicPr>
          <p:cNvPr id="8" name="Picture 7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FD1CB174-0709-8F34-270E-2894786B9D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7086" y="7300679"/>
            <a:ext cx="3106543" cy="16153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amk oranssi">
  <a:themeElements>
    <a:clrScheme name="Oamk oranssi 2">
      <a:dk1>
        <a:srgbClr val="000000"/>
      </a:dk1>
      <a:lt1>
        <a:srgbClr val="FFFFFF"/>
      </a:lt1>
      <a:dk2>
        <a:srgbClr val="FD7813"/>
      </a:dk2>
      <a:lt2>
        <a:srgbClr val="E6E6E6"/>
      </a:lt2>
      <a:accent1>
        <a:srgbClr val="FD7813"/>
      </a:accent1>
      <a:accent2>
        <a:srgbClr val="FFA558"/>
      </a:accent2>
      <a:accent3>
        <a:srgbClr val="FFBC86"/>
      </a:accent3>
      <a:accent4>
        <a:srgbClr val="FFD3B1"/>
      </a:accent4>
      <a:accent5>
        <a:srgbClr val="FFE9D9"/>
      </a:accent5>
      <a:accent6>
        <a:srgbClr val="F7F4EC"/>
      </a:accent6>
      <a:hlink>
        <a:srgbClr val="2E809E"/>
      </a:hlink>
      <a:folHlink>
        <a:srgbClr val="3CA5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A3 Paper (297x420 mm)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Oamk oranssi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Posterikypsyysnäyte</dc:title>
  <dc:creator>Oamk Tietotekniikka</dc:creator>
  <cp:revision>7</cp:revision>
  <dcterms:modified xsi:type="dcterms:W3CDTF">2025-12-10T10:45:05Z</dcterms:modified>
</cp:coreProperties>
</file>